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99" r:id="rId3"/>
    <p:sldId id="308" r:id="rId4"/>
    <p:sldId id="309" r:id="rId5"/>
    <p:sldId id="310" r:id="rId6"/>
    <p:sldId id="256" r:id="rId7"/>
    <p:sldId id="311" r:id="rId8"/>
    <p:sldId id="312" r:id="rId9"/>
    <p:sldId id="313" r:id="rId10"/>
    <p:sldId id="314" r:id="rId11"/>
    <p:sldId id="321" r:id="rId12"/>
    <p:sldId id="322" r:id="rId13"/>
    <p:sldId id="323" r:id="rId14"/>
    <p:sldId id="315" r:id="rId15"/>
    <p:sldId id="320" r:id="rId16"/>
    <p:sldId id="316" r:id="rId17"/>
    <p:sldId id="317" r:id="rId18"/>
    <p:sldId id="318" r:id="rId19"/>
    <p:sldId id="319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E202-4F65-4DBF-9414-806D5EC6DC1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85AA0-3BBA-4FFF-897C-B1969123AE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94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Dans le chapitre précédent, nous avons vu les notions lexicales.</a:t>
            </a:r>
            <a:br>
              <a:rPr lang="fr-FR" dirty="0"/>
            </a:br>
            <a:r>
              <a:rPr lang="fr-FR" dirty="0"/>
              <a:t>Maintenant, nous allons monter d’un niveau : nous allons voir comment les instructions sont structurées.</a:t>
            </a:r>
          </a:p>
          <a:p>
            <a:r>
              <a:rPr lang="fr-FR" dirty="0"/>
              <a:t>Ce chapitre est très important parce qu’il constitue la base de l’analyse syntaxique dans un compilateur.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FFD4D2-C8E7-4FAB-93E6-6BB428CACC9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446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Mais on ne le choisit pas car la règle standard impose </a:t>
            </a:r>
            <a:r>
              <a:rPr lang="fr-FR" b="1" dirty="0"/>
              <a:t>l’associativité à gauche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79CD-7EAA-4E91-928B-4EA2F4D31A0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6023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Les instructions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Ce sont les instructions "fermées" ou équilibrées. Si elles contiennent un "if", elles contiennent obligatoirement le "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correspondant.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Les instructions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Unmatched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Ce sont les instructions "ouvertes". Elles se terminent par un "if" sans "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ou contiennent un "if" ouvert quelque part. C'est là que réside le danger de l'ambiguïté.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85AA0-3BBA-4FFF-897C-B1969123AE4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25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DD661-DF27-AB78-C065-3EFCCCFD7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685888-57FE-790E-B4BF-8608E94AD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6CBA4D-945F-6EE3-0813-86225B73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C66924-D8D4-A1A0-0E11-7B69EAC9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86591F-9F9A-5F7F-D641-7F216547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43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FDB04B-40C7-8B75-3E4F-1D09854B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74029E-720D-0F3A-CE72-E875C74DB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D885A6-6AAD-B776-9773-FC1AE48F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25889E-6CDA-A3E3-83C1-5FE809A5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B475B5-7EA5-AF63-238F-5B67DCD6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7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B5F525-18AD-81D5-EB0F-1BE06231C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18BE94-1181-BB31-95DF-5A807D36B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76CA39-870F-514B-E1A9-2CF233AF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936B5B-60B4-AB36-9AA5-5D998F210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A6723B-0C75-0874-A529-AE7E0809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626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C2859-D6D1-09A8-C7A8-C195486D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80DF8D-1F5D-D893-E907-AB6E6C203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9AA16D-8E32-395A-A9CC-2458D202A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FD5AE6-4D66-DA68-8484-D7F03805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B52391-F0E7-2A90-D7F5-F3CE0190D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6B4458-8CD9-4DEB-5CB4-A2CDA555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52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560C54-B52B-4A85-C356-745A9872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24CFE3-DAF8-7D2E-56B9-44379C6C9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509077-5F64-E761-9509-6D1D06024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F3B791-BDC8-F542-0D8E-D0B3A7C1E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543CD50-F982-B6D0-34ED-68182D2EB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8800F6A-BF44-6C15-C005-A3185620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DEC0E8D-AD55-461E-8C4E-C8D7348F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DEF6542-0A02-D435-071A-F5616481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48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63AC02-8FD4-FE0B-4BF2-79D273854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009779-CA85-2801-FEA7-9832D17A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586DC1-8725-B22D-59BD-36ED3109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90413F-0B5D-62AA-3C39-2DE23FEA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4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948898B-8003-A18B-9616-00483F10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18AE4A-3E0C-4CE6-C8F7-3DAB4DD5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50A727-C5A4-B8A6-9D91-AB2C55FD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667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37C926-DC1C-C80C-685F-28B90A62A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51007-A5ED-5481-D517-9099A212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BA5F7C-A9F9-A233-5AF9-1F3517F8F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517FA0-14E1-810B-CF24-3AC25EAD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F1345A-C9AE-F700-DEC0-0150A5D6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FE79F6-A2DD-CF82-609E-B8FE4DE6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48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64ABF-EBC9-002F-C2F7-737C8EB9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F1876D-3271-F192-1EB6-FD0FB034E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30B999-AB1C-A4C0-2927-C2144791A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1E9505-A9F1-76DB-563F-95A7C42F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E8DF98-E71E-2D85-2A68-05304B959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21B874-187A-B975-C23F-CA007CBE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47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BDE6A-CF50-BD60-8A7F-317658C3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FE18161-0997-3200-DB38-97F4E58EB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74E4F6-FB7A-D637-F715-EA7A97C3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412FB3-9906-22D4-157E-4B4FC415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6D23AF-4A5D-E434-A6D7-5843A8D6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69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2050EF1-85DF-6D32-D4DF-D5A265A86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ADF4B0-4A05-1985-364D-A636F9232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21B836-5106-F2D9-DECC-6ACA194E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6D7552-FB24-0787-0323-A6480D83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58BCB7-C221-13FB-B469-915B48C1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953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60A80-2FBF-08C9-522F-0E6547301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772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0B9B75-3E68-0037-9C42-D36845EEC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909"/>
            </a:lvl1pPr>
            <a:lvl2pPr marL="363636" indent="0" algn="ctr">
              <a:buNone/>
              <a:defRPr sz="1591"/>
            </a:lvl2pPr>
            <a:lvl3pPr marL="727272" indent="0" algn="ctr">
              <a:buNone/>
              <a:defRPr sz="1432"/>
            </a:lvl3pPr>
            <a:lvl4pPr marL="1090908" indent="0" algn="ctr">
              <a:buNone/>
              <a:defRPr sz="1272"/>
            </a:lvl4pPr>
            <a:lvl5pPr marL="1454543" indent="0" algn="ctr">
              <a:buNone/>
              <a:defRPr sz="1272"/>
            </a:lvl5pPr>
            <a:lvl6pPr marL="1818180" indent="0" algn="ctr">
              <a:buNone/>
              <a:defRPr sz="1272"/>
            </a:lvl6pPr>
            <a:lvl7pPr marL="2181816" indent="0" algn="ctr">
              <a:buNone/>
              <a:defRPr sz="1272"/>
            </a:lvl7pPr>
            <a:lvl8pPr marL="2545452" indent="0" algn="ctr">
              <a:buNone/>
              <a:defRPr sz="1272"/>
            </a:lvl8pPr>
            <a:lvl9pPr marL="2909088" indent="0" algn="ctr">
              <a:buNone/>
              <a:defRPr sz="1272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855ECB-77DE-2F3F-FB8F-FDA5C957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04E845-4982-6CE4-9CAE-B889EF57B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599D3F-CD31-BC77-BF4D-9E0D944D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593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93CCF-A28E-CFF7-FDBF-7C2BD3CA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675192-6AA8-AED0-D576-300DFBA68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3EE124-0BE6-0E41-4B2B-FA5544D0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645470-53CB-FF25-3A9D-BF0D5093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2A4FFC-61FA-AE20-C569-21E18EB3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2696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22230F-FA5A-A690-4570-88DBE28C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1" cy="2852737"/>
          </a:xfrm>
        </p:spPr>
        <p:txBody>
          <a:bodyPr anchor="b"/>
          <a:lstStyle>
            <a:lvl1pPr>
              <a:defRPr sz="4772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867B73-6496-B94A-C4F0-A3C1B27A3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1" cy="1500187"/>
          </a:xfrm>
        </p:spPr>
        <p:txBody>
          <a:bodyPr/>
          <a:lstStyle>
            <a:lvl1pPr marL="0" indent="0">
              <a:buNone/>
              <a:defRPr sz="1909">
                <a:solidFill>
                  <a:schemeClr val="tx1">
                    <a:tint val="75000"/>
                  </a:schemeClr>
                </a:solidFill>
              </a:defRPr>
            </a:lvl1pPr>
            <a:lvl2pPr marL="363636" indent="0">
              <a:buNone/>
              <a:defRPr sz="1591">
                <a:solidFill>
                  <a:schemeClr val="tx1">
                    <a:tint val="75000"/>
                  </a:schemeClr>
                </a:solidFill>
              </a:defRPr>
            </a:lvl2pPr>
            <a:lvl3pPr marL="727272" indent="0">
              <a:buNone/>
              <a:defRPr sz="1432">
                <a:solidFill>
                  <a:schemeClr val="tx1">
                    <a:tint val="75000"/>
                  </a:schemeClr>
                </a:solidFill>
              </a:defRPr>
            </a:lvl3pPr>
            <a:lvl4pPr marL="1090908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4pPr>
            <a:lvl5pPr marL="1454543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5pPr>
            <a:lvl6pPr marL="1818180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6pPr>
            <a:lvl7pPr marL="2181816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7pPr>
            <a:lvl8pPr marL="2545452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8pPr>
            <a:lvl9pPr marL="2909088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AEB2B-AC0A-7A26-A2F5-875A8511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9237A3-3214-6281-BF19-E0E0BCFB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5CD6B7-7C9D-886C-22DB-2870379B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113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49A62-D5B6-C0A8-DE76-8585D777F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F747F2-FFF1-2D8A-9740-322EF534F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852F15-FFE3-3254-0402-2F4BD1B2F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883B19-3171-5217-5099-B2318BC8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CCD718-7A63-AFF8-22A8-AF82AD86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BF49EB-1AD4-85E8-2B4B-038A80DB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1715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EF881-0C8B-67ED-70EF-96BD8DD9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1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D7AB92-2858-4833-8FFD-D7B5DD28D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909" b="1"/>
            </a:lvl1pPr>
            <a:lvl2pPr marL="363636" indent="0">
              <a:buNone/>
              <a:defRPr sz="1591" b="1"/>
            </a:lvl2pPr>
            <a:lvl3pPr marL="727272" indent="0">
              <a:buNone/>
              <a:defRPr sz="1432" b="1"/>
            </a:lvl3pPr>
            <a:lvl4pPr marL="1090908" indent="0">
              <a:buNone/>
              <a:defRPr sz="1272" b="1"/>
            </a:lvl4pPr>
            <a:lvl5pPr marL="1454543" indent="0">
              <a:buNone/>
              <a:defRPr sz="1272" b="1"/>
            </a:lvl5pPr>
            <a:lvl6pPr marL="1818180" indent="0">
              <a:buNone/>
              <a:defRPr sz="1272" b="1"/>
            </a:lvl6pPr>
            <a:lvl7pPr marL="2181816" indent="0">
              <a:buNone/>
              <a:defRPr sz="1272" b="1"/>
            </a:lvl7pPr>
            <a:lvl8pPr marL="2545452" indent="0">
              <a:buNone/>
              <a:defRPr sz="1272" b="1"/>
            </a:lvl8pPr>
            <a:lvl9pPr marL="2909088" indent="0">
              <a:buNone/>
              <a:defRPr sz="127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89F270-1606-AB7A-B849-E8D4FFA02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644AC6-9431-6C42-A2FA-07A49056B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909" b="1"/>
            </a:lvl1pPr>
            <a:lvl2pPr marL="363636" indent="0">
              <a:buNone/>
              <a:defRPr sz="1591" b="1"/>
            </a:lvl2pPr>
            <a:lvl3pPr marL="727272" indent="0">
              <a:buNone/>
              <a:defRPr sz="1432" b="1"/>
            </a:lvl3pPr>
            <a:lvl4pPr marL="1090908" indent="0">
              <a:buNone/>
              <a:defRPr sz="1272" b="1"/>
            </a:lvl4pPr>
            <a:lvl5pPr marL="1454543" indent="0">
              <a:buNone/>
              <a:defRPr sz="1272" b="1"/>
            </a:lvl5pPr>
            <a:lvl6pPr marL="1818180" indent="0">
              <a:buNone/>
              <a:defRPr sz="1272" b="1"/>
            </a:lvl6pPr>
            <a:lvl7pPr marL="2181816" indent="0">
              <a:buNone/>
              <a:defRPr sz="1272" b="1"/>
            </a:lvl7pPr>
            <a:lvl8pPr marL="2545452" indent="0">
              <a:buNone/>
              <a:defRPr sz="1272" b="1"/>
            </a:lvl8pPr>
            <a:lvl9pPr marL="2909088" indent="0">
              <a:buNone/>
              <a:defRPr sz="127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78CBE3-3BB8-39AF-AC69-7C0B51B9B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03452A-D244-DFF3-FE31-81817CEF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6B7FA5D-CB40-41FA-C391-9E77D1DD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90C990-52F2-7FFE-3B77-FAEF1CC4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260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B0F3E-ED66-1522-29D9-F1BE7851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E49DCF-BB61-0002-67A9-4937AAD2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086C8ED-E4D8-F488-39D8-3497AA14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0C0D12-A6EA-8133-79ED-777DD15F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766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B86BB9-0D5A-DE66-04D3-F8ADB889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4833E9-FE73-A387-3F13-57E34653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030C9-620A-BD87-7005-58A37682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865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CACAC-69A1-A84A-38F7-783187C4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254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ADADED-6CCE-E26A-D790-30E86ACFE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545"/>
            </a:lvl1pPr>
            <a:lvl2pPr>
              <a:defRPr sz="2227"/>
            </a:lvl2pPr>
            <a:lvl3pPr>
              <a:defRPr sz="1909"/>
            </a:lvl3pPr>
            <a:lvl4pPr>
              <a:defRPr sz="1591"/>
            </a:lvl4pPr>
            <a:lvl5pPr>
              <a:defRPr sz="1591"/>
            </a:lvl5pPr>
            <a:lvl6pPr>
              <a:defRPr sz="1591"/>
            </a:lvl6pPr>
            <a:lvl7pPr>
              <a:defRPr sz="1591"/>
            </a:lvl7pPr>
            <a:lvl8pPr>
              <a:defRPr sz="1591"/>
            </a:lvl8pPr>
            <a:lvl9pPr>
              <a:defRPr sz="1591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742258-B926-EB3D-9442-1954A6DEA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272"/>
            </a:lvl1pPr>
            <a:lvl2pPr marL="363636" indent="0">
              <a:buNone/>
              <a:defRPr sz="1114"/>
            </a:lvl2pPr>
            <a:lvl3pPr marL="727272" indent="0">
              <a:buNone/>
              <a:defRPr sz="955"/>
            </a:lvl3pPr>
            <a:lvl4pPr marL="1090908" indent="0">
              <a:buNone/>
              <a:defRPr sz="795"/>
            </a:lvl4pPr>
            <a:lvl5pPr marL="1454543" indent="0">
              <a:buNone/>
              <a:defRPr sz="795"/>
            </a:lvl5pPr>
            <a:lvl6pPr marL="1818180" indent="0">
              <a:buNone/>
              <a:defRPr sz="795"/>
            </a:lvl6pPr>
            <a:lvl7pPr marL="2181816" indent="0">
              <a:buNone/>
              <a:defRPr sz="795"/>
            </a:lvl7pPr>
            <a:lvl8pPr marL="2545452" indent="0">
              <a:buNone/>
              <a:defRPr sz="795"/>
            </a:lvl8pPr>
            <a:lvl9pPr marL="2909088" indent="0">
              <a:buNone/>
              <a:defRPr sz="79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14CD12-53B6-C459-A1FA-ED520B8C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447FF1-CB9B-1D70-CF72-52C42C4C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7345F0-447A-5536-98D3-1402204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905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B7EA1-71FC-86EB-E30A-46A42569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254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206DB32-31DC-9DC9-9280-083046473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545"/>
            </a:lvl1pPr>
            <a:lvl2pPr marL="363636" indent="0">
              <a:buNone/>
              <a:defRPr sz="2227"/>
            </a:lvl2pPr>
            <a:lvl3pPr marL="727272" indent="0">
              <a:buNone/>
              <a:defRPr sz="1909"/>
            </a:lvl3pPr>
            <a:lvl4pPr marL="1090908" indent="0">
              <a:buNone/>
              <a:defRPr sz="1591"/>
            </a:lvl4pPr>
            <a:lvl5pPr marL="1454543" indent="0">
              <a:buNone/>
              <a:defRPr sz="1591"/>
            </a:lvl5pPr>
            <a:lvl6pPr marL="1818180" indent="0">
              <a:buNone/>
              <a:defRPr sz="1591"/>
            </a:lvl6pPr>
            <a:lvl7pPr marL="2181816" indent="0">
              <a:buNone/>
              <a:defRPr sz="1591"/>
            </a:lvl7pPr>
            <a:lvl8pPr marL="2545452" indent="0">
              <a:buNone/>
              <a:defRPr sz="1591"/>
            </a:lvl8pPr>
            <a:lvl9pPr marL="2909088" indent="0">
              <a:buNone/>
              <a:defRPr sz="1591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8B443F-2A3E-BD82-5293-612B17504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272"/>
            </a:lvl1pPr>
            <a:lvl2pPr marL="363636" indent="0">
              <a:buNone/>
              <a:defRPr sz="1114"/>
            </a:lvl2pPr>
            <a:lvl3pPr marL="727272" indent="0">
              <a:buNone/>
              <a:defRPr sz="955"/>
            </a:lvl3pPr>
            <a:lvl4pPr marL="1090908" indent="0">
              <a:buNone/>
              <a:defRPr sz="795"/>
            </a:lvl4pPr>
            <a:lvl5pPr marL="1454543" indent="0">
              <a:buNone/>
              <a:defRPr sz="795"/>
            </a:lvl5pPr>
            <a:lvl6pPr marL="1818180" indent="0">
              <a:buNone/>
              <a:defRPr sz="795"/>
            </a:lvl6pPr>
            <a:lvl7pPr marL="2181816" indent="0">
              <a:buNone/>
              <a:defRPr sz="795"/>
            </a:lvl7pPr>
            <a:lvl8pPr marL="2545452" indent="0">
              <a:buNone/>
              <a:defRPr sz="795"/>
            </a:lvl8pPr>
            <a:lvl9pPr marL="2909088" indent="0">
              <a:buNone/>
              <a:defRPr sz="79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C47335-58D9-0BEB-1E84-ACB28C5E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FEB885-4F64-ECA8-D3F9-31A63E33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0F641B-3D9E-86B4-1801-EF637C60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453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438A4D-1001-2982-5EE9-FB513252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403887-5FC1-5A86-4BA4-1FC75DA1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AA03B7-E6EA-9779-A839-C44D5C28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EAE73D-653A-4C17-8A63-63108BD2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E3792B-89CB-6C9B-2EB3-E3220251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387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199F34-6610-98AE-221D-996C7DD05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0B2B00-55B4-4982-A6CA-A1EE306F0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EFF7BA-E154-4716-7E8C-AAFE76C7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D14B0B-365B-1EB3-C53B-B10FF44E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DB8483-CE25-8DA6-5C3C-DE0EC444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69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EDB1F91-6E42-7666-0F4F-F3060B5F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EE67E9-A2DB-B300-F57C-019C3ECF4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94B03E-5D44-9373-F6A9-564040A7E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973D8-208E-4B33-AE06-B58ECEE2E5F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C6B144-B69E-17D9-4440-7A56B97B3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8A046B-BDA0-B63A-E69E-8E9533C5F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DFCE3-536F-47B8-A931-64B105B55E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84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BD2026-24EE-9F14-3186-5DD3562A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D700BA-7371-CBF4-2F09-F52D5B688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998AA5-6584-A237-039F-92CF27DE3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B58BB4-2B1B-60A0-BD8A-5E2F01A33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EE6002-8374-91AC-A11E-2CA546592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128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7272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1818" indent="-181818" algn="l" defTabSz="727272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227" kern="1200">
          <a:solidFill>
            <a:schemeClr val="tx1"/>
          </a:solidFill>
          <a:latin typeface="+mn-lt"/>
          <a:ea typeface="+mn-ea"/>
          <a:cs typeface="+mn-cs"/>
        </a:defRPr>
      </a:lvl1pPr>
      <a:lvl2pPr marL="545454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909" kern="1200">
          <a:solidFill>
            <a:schemeClr val="tx1"/>
          </a:solidFill>
          <a:latin typeface="+mn-lt"/>
          <a:ea typeface="+mn-ea"/>
          <a:cs typeface="+mn-cs"/>
        </a:defRPr>
      </a:lvl2pPr>
      <a:lvl3pPr marL="909090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591" kern="1200">
          <a:solidFill>
            <a:schemeClr val="tx1"/>
          </a:solidFill>
          <a:latin typeface="+mn-lt"/>
          <a:ea typeface="+mn-ea"/>
          <a:cs typeface="+mn-cs"/>
        </a:defRPr>
      </a:lvl3pPr>
      <a:lvl4pPr marL="1272726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4pPr>
      <a:lvl5pPr marL="1636362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5pPr>
      <a:lvl6pPr marL="1999998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6pPr>
      <a:lvl7pPr marL="2363634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7pPr>
      <a:lvl8pPr marL="2727270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8pPr>
      <a:lvl9pPr marL="3090906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1pPr>
      <a:lvl2pPr marL="363636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2pPr>
      <a:lvl3pPr marL="727272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3pPr>
      <a:lvl4pPr marL="1090908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4pPr>
      <a:lvl5pPr marL="1454543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5pPr>
      <a:lvl6pPr marL="1818180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6pPr>
      <a:lvl7pPr marL="2181816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7pPr>
      <a:lvl8pPr marL="2545452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8pPr>
      <a:lvl9pPr marL="2909088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39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2AE0B-F53D-CC31-854C-D1C5BECCC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D7BCADB-0C45-D807-B148-7C2E192004BF}"/>
              </a:ext>
            </a:extLst>
          </p:cNvPr>
          <p:cNvSpPr txBox="1"/>
          <p:nvPr/>
        </p:nvSpPr>
        <p:spPr>
          <a:xfrm>
            <a:off x="1247607" y="4386054"/>
            <a:ext cx="9696786" cy="87575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727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90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Pr. Dr. Imane LASRI</a:t>
            </a:r>
          </a:p>
          <a:p>
            <a:pPr marL="0" marR="0" lvl="0" indent="0" algn="ctr" defTabSz="727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École Nationale Supérieure d'Arts et Métiers (ENSAM) Rabat</a:t>
            </a:r>
          </a:p>
          <a:p>
            <a:pPr marL="0" marR="0" lvl="0" indent="0" algn="ctr" defTabSz="727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Université Mohammed V de Rabat 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C971587-E813-F36F-80FE-034AD6424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486"/>
          <a:stretch>
            <a:fillRect/>
          </a:stretch>
        </p:blipFill>
        <p:spPr>
          <a:xfrm>
            <a:off x="1247607" y="701780"/>
            <a:ext cx="9696786" cy="293451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7CF4A37-BA3A-754F-9C65-AC37D13D04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747" y="701779"/>
            <a:ext cx="1066646" cy="106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8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00FC0-2F4D-5AE4-221D-BE572099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6B46D5-76F7-04B2-E12E-27FB1E3C2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84DC9E-AE0B-62D4-3957-CD7102674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45" y="0"/>
            <a:ext cx="10221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0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3EC21-E978-E8C8-0FD8-DACEA740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069E3D-557B-6601-22C4-C3AB638A4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C9C78E-73AF-F972-F32B-F6536F0C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3" y="0"/>
            <a:ext cx="10455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54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F09CA9-143E-2A30-4008-2AE70F3D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0F6095-50A4-0E4A-4726-EB8FFA040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48C7E17-2EE7-0953-E421-65F981CF9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60" y="0"/>
            <a:ext cx="98944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2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521DC0-1AED-6429-BB06-9BA6B39B4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427973"/>
            <a:ext cx="10325100" cy="185712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5169996-6AF2-87BA-267B-2E93496F4217}"/>
              </a:ext>
            </a:extLst>
          </p:cNvPr>
          <p:cNvSpPr txBox="1"/>
          <p:nvPr/>
        </p:nvSpPr>
        <p:spPr>
          <a:xfrm>
            <a:off x="3071813" y="2778295"/>
            <a:ext cx="5572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(9-5)+2=6    #   9-(5+2)=2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923AA11-6641-3B60-DBA6-FD900E01E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81" y="3794711"/>
            <a:ext cx="10282238" cy="94996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646F164-057F-78A0-AED0-23A3A7F2B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37" y="5132794"/>
            <a:ext cx="9991726" cy="78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8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0F8B42-0ACC-12AC-1347-F160FC14D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03" y="702728"/>
            <a:ext cx="11125001" cy="527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5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840A917-42B1-4F2B-6606-7B738C0B4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795"/>
            <a:ext cx="12192000" cy="34401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888140E-4804-33C1-FFA1-5B9ABF2126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5"/>
          <a:stretch>
            <a:fillRect/>
          </a:stretch>
        </p:blipFill>
        <p:spPr>
          <a:xfrm>
            <a:off x="122245" y="4220721"/>
            <a:ext cx="11482973" cy="10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99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A9FD39D-1CAC-EC26-6A3C-37407DA80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012"/>
            <a:ext cx="12192000" cy="587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2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727C3EF-E156-B833-17AC-E8FA38BA29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86"/>
          <a:stretch>
            <a:fillRect/>
          </a:stretch>
        </p:blipFill>
        <p:spPr>
          <a:xfrm>
            <a:off x="171450" y="1057275"/>
            <a:ext cx="12192000" cy="438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7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97C6CF-0DD7-A396-4A60-4C27B2E5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700"/>
          </a:xfrm>
        </p:spPr>
        <p:txBody>
          <a:bodyPr>
            <a:normAutofit/>
          </a:bodyPr>
          <a:lstStyle/>
          <a:p>
            <a:r>
              <a:rPr lang="fr-FR" sz="3200" b="1" u="sng" dirty="0"/>
              <a:t>Exercice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31CD23-4CD9-3527-0816-43E7BE26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499369"/>
            <a:ext cx="7486650" cy="302983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58AD0E6-3A56-823D-84CE-A1113D8B0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87" y="2690813"/>
            <a:ext cx="3362325" cy="85725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2F20490-9E43-7316-E6ED-8CD8C81E404E}"/>
              </a:ext>
            </a:extLst>
          </p:cNvPr>
          <p:cNvSpPr txBox="1"/>
          <p:nvPr/>
        </p:nvSpPr>
        <p:spPr>
          <a:xfrm>
            <a:off x="1427322" y="5072063"/>
            <a:ext cx="8394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400" dirty="0"/>
              <a:t>Donner 2 arbre syntaxiques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Proposer une </a:t>
            </a:r>
            <a:r>
              <a:rPr lang="fr-FR" sz="2400" b="1" dirty="0"/>
              <a:t>nouvelle grammaire non ambiguë</a:t>
            </a:r>
            <a:r>
              <a:rPr lang="fr-FR" sz="2400" dirty="0"/>
              <a:t> équivalente.</a:t>
            </a:r>
          </a:p>
        </p:txBody>
      </p:sp>
    </p:spTree>
    <p:extLst>
      <p:ext uri="{BB962C8B-B14F-4D97-AF65-F5344CB8AC3E}">
        <p14:creationId xmlns:p14="http://schemas.microsoft.com/office/powerpoint/2010/main" val="230937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6BAAB1-A7C5-3F98-FC25-569FFD7E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 u="sng" dirty="0"/>
              <a:t>Solution</a:t>
            </a: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A76045-75CD-B5F8-9A14-71E36FABC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1938337"/>
            <a:ext cx="3876675" cy="38195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06D981A-6EE6-E116-2F5A-C650763E6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763" y="1866900"/>
            <a:ext cx="34861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5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F782-F8D8-DE45-9CD5-91D5E0CCB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CF4AD5-37FA-BAC7-E068-BAD4A92B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 u="sng" dirty="0"/>
              <a:t>Solution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939F5C7-E10B-B6A8-E158-EE030D77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7" y="1728107"/>
            <a:ext cx="5953124" cy="340178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0A430D5-CEDD-7156-584F-CB1E523BF95C}"/>
              </a:ext>
            </a:extLst>
          </p:cNvPr>
          <p:cNvSpPr txBox="1"/>
          <p:nvPr/>
        </p:nvSpPr>
        <p:spPr>
          <a:xfrm>
            <a:off x="7081837" y="2021690"/>
            <a:ext cx="4271963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- Le niveau "</a:t>
            </a:r>
            <a:r>
              <a:rPr lang="fr-FR" sz="2000" b="1" dirty="0"/>
              <a:t>Expression</a:t>
            </a:r>
            <a:r>
              <a:rPr lang="fr-FR" sz="2000" dirty="0"/>
              <a:t>" gère l'addition (priorité la plus faible).</a:t>
            </a:r>
            <a:br>
              <a:rPr lang="fr-FR" sz="2000" dirty="0"/>
            </a:br>
            <a:r>
              <a:rPr lang="fr-FR" sz="2000" dirty="0"/>
              <a:t>- Le niveau "</a:t>
            </a:r>
            <a:r>
              <a:rPr lang="fr-FR" sz="2000" b="1" dirty="0"/>
              <a:t>Terme</a:t>
            </a:r>
            <a:r>
              <a:rPr lang="fr-FR" sz="2000" dirty="0"/>
              <a:t>" gère la multiplication (priorité supérieure).</a:t>
            </a:r>
            <a:br>
              <a:rPr lang="fr-FR" sz="2000" dirty="0"/>
            </a:br>
            <a:r>
              <a:rPr lang="fr-FR" sz="2000" dirty="0"/>
              <a:t>- Le niveau "</a:t>
            </a:r>
            <a:r>
              <a:rPr lang="fr-FR" sz="2000" b="1" dirty="0"/>
              <a:t>Facteur</a:t>
            </a:r>
            <a:r>
              <a:rPr lang="fr-FR" sz="2000" dirty="0"/>
              <a:t>" gère les nombres et les parenthèses (priorité maximale).</a:t>
            </a:r>
          </a:p>
        </p:txBody>
      </p:sp>
    </p:spTree>
    <p:extLst>
      <p:ext uri="{BB962C8B-B14F-4D97-AF65-F5344CB8AC3E}">
        <p14:creationId xmlns:p14="http://schemas.microsoft.com/office/powerpoint/2010/main" val="6559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366E981-8707-9EE4-F1D6-89D4B7BE0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317610"/>
            <a:ext cx="10029825" cy="41397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3E6C54B-B27C-079E-7413-CA509475F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299" y="4524690"/>
            <a:ext cx="5467351" cy="69598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6E0A600-1493-8EC7-ED2E-7E17DBDB4BAA}"/>
              </a:ext>
            </a:extLst>
          </p:cNvPr>
          <p:cNvSpPr txBox="1"/>
          <p:nvPr/>
        </p:nvSpPr>
        <p:spPr>
          <a:xfrm>
            <a:off x="1898809" y="5505451"/>
            <a:ext cx="8394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400" dirty="0"/>
              <a:t>Donner 2 arbre syntaxiques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Proposer une </a:t>
            </a:r>
            <a:r>
              <a:rPr lang="fr-FR" sz="2400" b="1" dirty="0"/>
              <a:t>nouvelle grammaire non ambiguë</a:t>
            </a:r>
            <a:r>
              <a:rPr lang="fr-FR" sz="2400" dirty="0"/>
              <a:t> équivalente.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F36AC6A-BD59-93FB-9962-3EDAD5E5A2F6}"/>
              </a:ext>
            </a:extLst>
          </p:cNvPr>
          <p:cNvSpPr txBox="1"/>
          <p:nvPr/>
        </p:nvSpPr>
        <p:spPr>
          <a:xfrm>
            <a:off x="4343400" y="259942"/>
            <a:ext cx="3890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rgbClr val="0070C0"/>
                </a:solidFill>
              </a:rPr>
              <a:t>Dangling</a:t>
            </a:r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err="1">
                <a:solidFill>
                  <a:srgbClr val="0070C0"/>
                </a:solidFill>
              </a:rPr>
              <a:t>else</a:t>
            </a:r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err="1">
                <a:solidFill>
                  <a:srgbClr val="0070C0"/>
                </a:solidFill>
              </a:rPr>
              <a:t>problem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17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04822B-2949-B0A6-7712-CEFE0AED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 err="1">
                <a:solidFill>
                  <a:srgbClr val="0070C0"/>
                </a:solidFill>
              </a:rPr>
              <a:t>Dangling</a:t>
            </a:r>
            <a:r>
              <a:rPr lang="fr-FR" sz="3200" b="1" dirty="0">
                <a:solidFill>
                  <a:srgbClr val="0070C0"/>
                </a:solidFill>
              </a:rPr>
              <a:t> </a:t>
            </a:r>
            <a:r>
              <a:rPr lang="fr-FR" sz="3200" b="1" dirty="0" err="1">
                <a:solidFill>
                  <a:srgbClr val="0070C0"/>
                </a:solidFill>
              </a:rPr>
              <a:t>else</a:t>
            </a:r>
            <a:r>
              <a:rPr lang="fr-FR" sz="3200" b="1" dirty="0">
                <a:solidFill>
                  <a:srgbClr val="0070C0"/>
                </a:solidFill>
              </a:rPr>
              <a:t> </a:t>
            </a:r>
            <a:r>
              <a:rPr lang="fr-FR" sz="3200" b="1" dirty="0" err="1">
                <a:solidFill>
                  <a:srgbClr val="0070C0"/>
                </a:solidFill>
              </a:rPr>
              <a:t>problem</a:t>
            </a:r>
            <a:br>
              <a:rPr lang="fr-FR" sz="3200" dirty="0">
                <a:solidFill>
                  <a:srgbClr val="0070C0"/>
                </a:solidFill>
              </a:rPr>
            </a:br>
            <a:endParaRPr lang="fr-FR" sz="3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912706-779C-FD0A-F6A2-4129C5C50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6" y="1324454"/>
            <a:ext cx="6301212" cy="380475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89294E5-9A37-A3B4-80C9-8DFF492A9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58" y="1470807"/>
            <a:ext cx="5386387" cy="391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03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A89D9C6-3710-73D5-03D1-A11E816FF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8" y="0"/>
            <a:ext cx="8440003" cy="276086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E9C42C6-A541-612E-DCE1-C7ED23145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851233"/>
            <a:ext cx="7834313" cy="314050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E2C6101-C9E1-384D-E0EC-112081A7C3A9}"/>
              </a:ext>
            </a:extLst>
          </p:cNvPr>
          <p:cNvSpPr txBox="1"/>
          <p:nvPr/>
        </p:nvSpPr>
        <p:spPr>
          <a:xfrm>
            <a:off x="7710488" y="583759"/>
            <a:ext cx="4579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B050"/>
                </a:solidFill>
              </a:rPr>
              <a:t>M: Nombre de if = nombre de </a:t>
            </a:r>
            <a:r>
              <a:rPr lang="fr-FR" sz="2000" b="1" dirty="0" err="1">
                <a:solidFill>
                  <a:srgbClr val="00B050"/>
                </a:solidFill>
              </a:rPr>
              <a:t>else</a:t>
            </a:r>
            <a:endParaRPr lang="fr-FR" sz="2000" b="1" dirty="0">
              <a:solidFill>
                <a:srgbClr val="00B050"/>
              </a:solidFill>
            </a:endParaRPr>
          </a:p>
          <a:p>
            <a:r>
              <a:rPr lang="fr-FR" sz="2000" b="1" dirty="0">
                <a:solidFill>
                  <a:srgbClr val="00B050"/>
                </a:solidFill>
              </a:rPr>
              <a:t>U: Nombre de if # nombre de </a:t>
            </a:r>
            <a:r>
              <a:rPr lang="fr-FR" sz="2000" b="1" dirty="0" err="1">
                <a:solidFill>
                  <a:srgbClr val="00B050"/>
                </a:solidFill>
              </a:rPr>
              <a:t>else</a:t>
            </a:r>
            <a:endParaRPr lang="fr-FR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536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B2E2E4A-64E9-FBC5-3877-F725871FD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154" y="398172"/>
            <a:ext cx="9778958" cy="576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33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B11FAD2-DDB0-1C8F-111A-54C384A2F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3" y="57150"/>
            <a:ext cx="8081962" cy="39147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519B9FC-57E1-4AA1-FE8C-FEEE8DAC0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923778"/>
            <a:ext cx="7577138" cy="28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3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8DAC010-E325-04B1-E6ED-90A10CB5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89"/>
            <a:ext cx="12192000" cy="676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41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9F134FF-358A-F4B8-76FA-C3F15904E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585"/>
            <a:ext cx="12192000" cy="506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39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B7AD3A0-402C-AE6D-050C-202F6E22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57"/>
            <a:ext cx="12192000" cy="68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69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FE473A0-1B45-CAD1-F008-5C7BEE0E1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228"/>
            <a:ext cx="12192000" cy="64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97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70F88A3-1EDA-4A47-B298-690EA5779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7" y="0"/>
            <a:ext cx="11372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85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1EF5E86-B732-98F3-9BA1-2A4831E25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06" y="0"/>
            <a:ext cx="11827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68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6D77F8-0867-8F46-4104-849C9F4AE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" y="0"/>
            <a:ext cx="11595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82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57A8509-B230-96F9-46BF-9BC6C7B59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17" y="0"/>
            <a:ext cx="11642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47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667F6F0-1011-1B2B-6188-C571B479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96"/>
            <a:ext cx="12192000" cy="629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04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76EC8F3-F4CC-91FE-BF99-55E6A2D8F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859"/>
            <a:ext cx="12192000" cy="603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74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B8FFF61-A17D-86B8-3FBD-ADE5B09E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196"/>
            <a:ext cx="12192000" cy="628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224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275</Words>
  <Application>Microsoft Office PowerPoint</Application>
  <PresentationFormat>Grand écran</PresentationFormat>
  <Paragraphs>24</Paragraphs>
  <Slides>28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Exercice</vt:lpstr>
      <vt:lpstr>Solution </vt:lpstr>
      <vt:lpstr>Solution </vt:lpstr>
      <vt:lpstr>Présentation PowerPoint</vt:lpstr>
      <vt:lpstr>Dangling else problem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17</cp:revision>
  <dcterms:created xsi:type="dcterms:W3CDTF">2026-02-25T02:13:36Z</dcterms:created>
  <dcterms:modified xsi:type="dcterms:W3CDTF">2026-03-02T00:35:22Z</dcterms:modified>
</cp:coreProperties>
</file>