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99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8A8FF-FDDB-4962-A0E5-DB81F97208B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5A542-02FF-4CB3-9E3D-CEF03D098C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49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newwindow=1&amp;sca_esv=261ff830ee146ab3&amp;rlz=1C1XXVF_frMA1006MA1006&amp;sxsrf=ANbL-n6lrOuD5r64RpqmAwyZqyXjRNFKcg%3A1772622250674&amp;q=hi%C3%A9rarchie+de+Chomsky&amp;source=lnms&amp;fbs=ADc_l-aN0CWEZBOHjofHoaMMDiKpaEWjvZ2Py1XXV8d8KvlI3vWUtYx0DZdicpfE1faGYenqWn-q4MFiFFtvJjTKeAVxZj_-zzAfU38gMel7zJW-zkKCTKsRWPABQAq0XH6eSqukr5Z_sySzt3LHWpZ0SOsVx43Jl12rWo_lK1Qfo6r2jPnSkut42QaKW9gtM96Kevy3AM4l_9z7eRU0lMKx5I7AKy6vEQ&amp;sa=X&amp;ved=2ahUKEwjLzozGjIaTAxUuRKQEHasuLM4QgK4QegQIARAB&amp;biw=1536&amp;bih=737&amp;dpr=2.5&amp;mstk=AUtExfDP6Bzs3OgkRdWauEEHFWu8uYmWOQaBG8pKmcNIXjATWJQMvDCpr8qrvuvU9fGvU9Gj2x9ovBNnuYkBIvZkYwj5DcShHhHp0M0rwX5g3iK9mdoRZ0uwr6zOvGbGDVT2W2djKs3cfd7wA2wt588rWmyb1HYy82v5-ipcxUkkemIOMSbCAt9zuX3R0ql-vSilLPpCIGmC-KMHBsTdoJXvr6kLM7GedIH0WquiMbbFQi0QbhpjVCJcikJBarddYDBcK9psjbJHFf7LC_pthx4JkKORgWVlxgtXVssBhq_JcpEC-Q&amp;csui=3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Dans le chapitre précédent, nous avons vu les notions lexicales.</a:t>
            </a:r>
            <a:br>
              <a:rPr lang="fr-FR" dirty="0"/>
            </a:br>
            <a:r>
              <a:rPr lang="fr-FR" dirty="0"/>
              <a:t>Maintenant, nous allons monter d’un niveau : nous allons voir comment les instructions sont structurées.</a:t>
            </a:r>
          </a:p>
          <a:p>
            <a:r>
              <a:rPr lang="fr-FR" dirty="0"/>
              <a:t>Ce chapitre est très important parce qu’il constitue la base de l’analyse syntaxique dans un compilateur.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FFD4D2-C8E7-4FAB-93E6-6BB428CACC9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446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grammaire de type 0, ou « grammaire sans restriction » dans la 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hiérarchie de Chomsky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dirty="0"/>
              <a:t>est la forme la plus générale de grammaire formelle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Elle autorise des règles de production 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où 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et 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sont des chaînes de symboles (terminaux et non-terminaux), sans contrainte de longueur, </a:t>
            </a:r>
            <a:r>
              <a:rPr lang="fr-FR" dirty="0"/>
              <a:t>= toutes les chaînes non vides</a:t>
            </a:r>
            <a:br>
              <a:rPr lang="fr-FR" dirty="0"/>
            </a:br>
            <a:r>
              <a:rPr lang="fr-FR" dirty="0"/>
              <a:t>= qui contiennent </a:t>
            </a:r>
            <a:r>
              <a:rPr lang="fr-FR" b="1" dirty="0"/>
              <a:t>au moins un non-terminal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5A542-02FF-4CB3-9E3D-CEF03D098CC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767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1</a:t>
                </a:r>
                <a:r>
                  <a:rPr lang="fr-FR" dirty="0"/>
                  <a:t> (sensible au contexte) a des règles de la forme</a:t>
                </a:r>
                <a:br>
                  <a:rPr lang="fr-FR" dirty="0"/>
                </a:b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𝛼</m:t>
                    </m:r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𝐴</m:t>
                    </m:r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𝛽</m:t>
                    </m:r>
                    <m:r>
                      <a:rPr lang="fr-F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𝛼𝛾𝛽</m:t>
                    </m:r>
                  </m:oMath>
                </a14:m>
                <a:r>
                  <a:rPr lang="fr-FR" dirty="0"/>
                  <a:t>avec </a:t>
                </a: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𝛾</m:t>
                    </m:r>
                    <m:r>
                      <a:rPr lang="fr-F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≠</m:t>
                    </m:r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𝜀</m:t>
                    </m:r>
                  </m:oMath>
                </a14:m>
                <a:r>
                  <a:rPr lang="fr-FR" dirty="0"/>
                  <a:t>.</a:t>
                </a:r>
              </a:p>
              <a:p>
                <a:r>
                  <a:rPr lang="fr-FR" dirty="0"/>
                  <a:t>Le remplacement d’un non-terminal dépend du </a:t>
                </a:r>
                <a:r>
                  <a:rPr lang="fr-FR" b="1" dirty="0"/>
                  <a:t>contexte</a:t>
                </a:r>
                <a:r>
                  <a:rPr lang="fr-FR" dirty="0"/>
                  <a:t> (ce qu’il y a avant et après).</a:t>
                </a:r>
              </a:p>
              <a:p>
                <a:r>
                  <a:rPr lang="fr-FR" dirty="0"/>
                  <a:t>La longueur de la chaîne </a:t>
                </a:r>
                <a:r>
                  <a:rPr lang="fr-FR" b="1" dirty="0"/>
                  <a:t>ne diminue jamais</a:t>
                </a:r>
                <a:r>
                  <a:rPr lang="fr-FR" dirty="0"/>
                  <a:t> ( </a:t>
                </a:r>
                <a14:m>
                  <m:oMath xmlns:m="http://schemas.openxmlformats.org/officeDocument/2006/math">
                    <m:r>
                      <a:rPr lang="fr-FR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∣</m:t>
                    </m:r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𝑑𝑟𝑜𝑖𝑡𝑒</m:t>
                    </m:r>
                    <m:r>
                      <a:rPr lang="fr-F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∣≥∣</m:t>
                    </m:r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𝑔𝑎𝑢𝑐h𝑒</m:t>
                    </m:r>
                    <m:r>
                      <a:rPr lang="fr-F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∣</m:t>
                    </m:r>
                  </m:oMath>
                </a14:m>
                <a:r>
                  <a:rPr lang="fr-FR" dirty="0"/>
                  <a:t>).</a:t>
                </a:r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1</a:t>
                </a:r>
                <a:r>
                  <a:rPr lang="fr-FR" dirty="0"/>
                  <a:t> (sensible au contexte) a des règles de la forme</a:t>
                </a:r>
                <a:br>
                  <a:rPr lang="fr-FR" dirty="0"/>
                </a:b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𝛼𝐴𝛽→𝛼𝛾𝛽</a:t>
                </a:r>
                <a:r>
                  <a:rPr lang="fr-FR" dirty="0"/>
                  <a:t>avec </a:t>
                </a: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𝛾≠𝜀</a:t>
                </a:r>
                <a:r>
                  <a:rPr lang="fr-FR" dirty="0"/>
                  <a:t>.</a:t>
                </a:r>
              </a:p>
              <a:p>
                <a:r>
                  <a:rPr lang="fr-FR" dirty="0"/>
                  <a:t>Le remplacement d’un non-terminal dépend du </a:t>
                </a:r>
                <a:r>
                  <a:rPr lang="fr-FR" b="1" dirty="0"/>
                  <a:t>contexte</a:t>
                </a:r>
                <a:r>
                  <a:rPr lang="fr-FR" dirty="0"/>
                  <a:t> (ce qu’il y a avant et après).</a:t>
                </a:r>
              </a:p>
              <a:p>
                <a:r>
                  <a:rPr lang="fr-FR" dirty="0"/>
                  <a:t>La longueur de la chaîne </a:t>
                </a:r>
                <a:r>
                  <a:rPr lang="fr-FR" b="1" dirty="0"/>
                  <a:t>ne diminue jamais</a:t>
                </a:r>
                <a:r>
                  <a:rPr lang="fr-FR" dirty="0"/>
                  <a:t> ( </a:t>
                </a: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∣𝑑𝑟𝑜𝑖𝑡𝑒∣≥∣𝑔𝑎𝑢𝑐ℎ𝑒∣</a:t>
                </a:r>
                <a:r>
                  <a:rPr lang="fr-FR" dirty="0"/>
                  <a:t>).</a:t>
                </a:r>
              </a:p>
              <a:p>
                <a:endParaRPr lang="fr-FR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5A542-02FF-4CB3-9E3D-CEF03D098CC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474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2</a:t>
                </a:r>
                <a:r>
                  <a:rPr lang="fr-FR" dirty="0"/>
                  <a:t> (hors contexte) a des règles de la forme :</a:t>
                </a:r>
                <a:br>
                  <a:rPr lang="fr-FR" dirty="0"/>
                </a:b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𝐴</m:t>
                    </m:r>
                    <m:r>
                      <a:rPr lang="fr-F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𝛾</m:t>
                    </m:r>
                  </m:oMath>
                </a14:m>
                <a:r>
                  <a:rPr lang="fr-FR" dirty="0"/>
                  <a:t>où </a:t>
                </a:r>
                <a:r>
                  <a:rPr lang="fr-FR" b="1" dirty="0"/>
                  <a:t>A</a:t>
                </a:r>
                <a:r>
                  <a:rPr lang="fr-FR" dirty="0"/>
                  <a:t> est un seul non-terminal.</a:t>
                </a:r>
              </a:p>
              <a:p>
                <a:r>
                  <a:rPr lang="fr-FR" dirty="0"/>
                  <a:t>Le remplacement ne dépend pas du contexte.</a:t>
                </a:r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2</a:t>
                </a:r>
                <a:r>
                  <a:rPr lang="fr-FR" dirty="0"/>
                  <a:t> (hors contexte) a des règles de la forme :</a:t>
                </a:r>
                <a:br>
                  <a:rPr lang="fr-FR" dirty="0"/>
                </a:b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𝐴→𝛾</a:t>
                </a:r>
                <a:r>
                  <a:rPr lang="fr-FR" dirty="0"/>
                  <a:t>où </a:t>
                </a:r>
                <a:r>
                  <a:rPr lang="fr-FR" b="1" dirty="0"/>
                  <a:t>A</a:t>
                </a:r>
                <a:r>
                  <a:rPr lang="fr-FR" dirty="0"/>
                  <a:t> est un seul non-terminal.</a:t>
                </a:r>
              </a:p>
              <a:p>
                <a:r>
                  <a:rPr lang="fr-FR" dirty="0"/>
                  <a:t>Le remplacement ne dépend pas du contexte.</a:t>
                </a:r>
              </a:p>
              <a:p>
                <a:endParaRPr lang="fr-FR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5A542-02FF-4CB3-9E3D-CEF03D098CC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158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3</a:t>
                </a:r>
                <a:r>
                  <a:rPr lang="fr-FR" dirty="0"/>
                  <a:t> a des règles très simples 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𝐴</m:t>
                      </m:r>
                      <m:r>
                        <a:rPr lang="fr-FR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→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𝑎𝐵</m:t>
                      </m:r>
                      <m:r>
                        <a:rPr lang="fr-FR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ou</m:t>
                      </m:r>
                      <m:r>
                        <a:rPr lang="fr-FR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fr-F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𝐴</m:t>
                      </m:r>
                      <m:r>
                        <a:rPr lang="fr-FR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→</m:t>
                      </m:r>
                      <m:r>
                        <a:rPr lang="fr-F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lang="fr-FR" b="0" dirty="0"/>
              </a:p>
              <a:p>
                <a:r>
                  <a:rPr lang="fr-FR" b="1" dirty="0"/>
                  <a:t>A, B</a:t>
                </a:r>
                <a:r>
                  <a:rPr lang="fr-FR" dirty="0"/>
                  <a:t> : non-terminaux</a:t>
                </a:r>
              </a:p>
              <a:p>
                <a:r>
                  <a:rPr lang="fr-FR" b="1" dirty="0"/>
                  <a:t>a</a:t>
                </a:r>
                <a:r>
                  <a:rPr lang="fr-FR" dirty="0"/>
                  <a:t> : terminal</a:t>
                </a:r>
              </a:p>
              <a:p>
                <a:r>
                  <a:rPr lang="fr-FR" dirty="0"/>
                  <a:t>👉 Il y a </a:t>
                </a:r>
                <a:r>
                  <a:rPr lang="fr-FR" b="1" dirty="0"/>
                  <a:t>au plus un non-terminal</a:t>
                </a:r>
                <a:r>
                  <a:rPr lang="fr-FR" dirty="0"/>
                  <a:t> à droite, et il est placé toujours du même côté (droite ou gauche).</a:t>
                </a:r>
              </a:p>
              <a:p>
                <a:br>
                  <a:rPr lang="fr-FR" dirty="0"/>
                </a:br>
                <a:endParaRPr lang="fr-FR" dirty="0"/>
              </a:p>
              <a:p>
                <a:r>
                  <a:rPr lang="fr-FR" b="1" dirty="0"/>
                  <a:t>🔎 Pourquoi “régulière” ?</a:t>
                </a:r>
              </a:p>
              <a:p>
                <a:r>
                  <a:rPr lang="fr-FR" dirty="0"/>
                  <a:t>Parce qu’elle génère les </a:t>
                </a:r>
                <a:r>
                  <a:rPr lang="fr-FR" b="1" dirty="0"/>
                  <a:t>langages réguliers</a:t>
                </a:r>
                <a:r>
                  <a:rPr lang="fr-FR" dirty="0"/>
                  <a:t>,</a:t>
                </a:r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3</a:t>
                </a:r>
                <a:r>
                  <a:rPr lang="fr-FR" dirty="0"/>
                  <a:t> a des règles très simples :</a:t>
                </a:r>
              </a:p>
              <a:p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𝐴→𝑎𝐵 </a:t>
                </a:r>
                <a:r>
                  <a:rPr lang="fr-F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"ou</a:t>
                </a:r>
                <a:r>
                  <a:rPr lang="fr-F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𝐴→𝑎</a:t>
                </a:r>
                <a:endParaRPr lang="fr-FR" b="0" dirty="0"/>
              </a:p>
              <a:p>
                <a:r>
                  <a:rPr lang="fr-FR" b="1" dirty="0"/>
                  <a:t>A, B</a:t>
                </a:r>
                <a:r>
                  <a:rPr lang="fr-FR" dirty="0"/>
                  <a:t> : non-terminaux</a:t>
                </a:r>
              </a:p>
              <a:p>
                <a:r>
                  <a:rPr lang="fr-FR" b="1" dirty="0"/>
                  <a:t>a</a:t>
                </a:r>
                <a:r>
                  <a:rPr lang="fr-FR" dirty="0"/>
                  <a:t> : terminal</a:t>
                </a:r>
              </a:p>
              <a:p>
                <a:r>
                  <a:rPr lang="fr-FR" dirty="0"/>
                  <a:t>👉 Il y a </a:t>
                </a:r>
                <a:r>
                  <a:rPr lang="fr-FR" b="1" dirty="0"/>
                  <a:t>au plus un non-terminal</a:t>
                </a:r>
                <a:r>
                  <a:rPr lang="fr-FR" dirty="0"/>
                  <a:t> à droite, et il est placé toujours du même côté (droite ou gauche).</a:t>
                </a:r>
              </a:p>
              <a:p>
                <a:br>
                  <a:rPr lang="fr-FR" dirty="0"/>
                </a:br>
                <a:endParaRPr lang="fr-FR" dirty="0"/>
              </a:p>
              <a:p>
                <a:r>
                  <a:rPr lang="fr-FR" b="1" dirty="0"/>
                  <a:t>🔎 Pourquoi “régulière” ?</a:t>
                </a:r>
              </a:p>
              <a:p>
                <a:r>
                  <a:rPr lang="fr-FR" dirty="0"/>
                  <a:t>Parce qu’elle génère les </a:t>
                </a:r>
                <a:r>
                  <a:rPr lang="fr-FR" b="1" dirty="0"/>
                  <a:t>langages réguliers</a:t>
                </a:r>
                <a:r>
                  <a:rPr lang="fr-FR" dirty="0"/>
                  <a:t>,</a:t>
                </a:r>
              </a:p>
              <a:p>
                <a:endParaRPr lang="fr-FR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5A542-02FF-4CB3-9E3D-CEF03D098CC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937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3</a:t>
                </a:r>
                <a:r>
                  <a:rPr lang="fr-FR" dirty="0"/>
                  <a:t> a des règles très simples 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𝐴</m:t>
                      </m:r>
                      <m:r>
                        <a:rPr lang="fr-FR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→</m:t>
                      </m:r>
                      <m:r>
                        <a:rPr lang="fr-FR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𝑎𝐵</m:t>
                      </m:r>
                      <m:r>
                        <a:rPr lang="fr-FR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ou</m:t>
                      </m:r>
                      <m:r>
                        <a:rPr lang="fr-FR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fr-F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𝐴</m:t>
                      </m:r>
                      <m:r>
                        <a:rPr lang="fr-FR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→</m:t>
                      </m:r>
                      <m:r>
                        <a:rPr lang="fr-F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lang="fr-FR" b="0" dirty="0"/>
              </a:p>
              <a:p>
                <a:r>
                  <a:rPr lang="fr-FR" b="1" dirty="0"/>
                  <a:t>A, B</a:t>
                </a:r>
                <a:r>
                  <a:rPr lang="fr-FR" dirty="0"/>
                  <a:t> : non-terminaux</a:t>
                </a:r>
              </a:p>
              <a:p>
                <a:r>
                  <a:rPr lang="fr-FR" b="1" dirty="0"/>
                  <a:t>a</a:t>
                </a:r>
                <a:r>
                  <a:rPr lang="fr-FR" dirty="0"/>
                  <a:t> : terminal</a:t>
                </a:r>
              </a:p>
              <a:p>
                <a:r>
                  <a:rPr lang="fr-FR" dirty="0"/>
                  <a:t>👉 Il y a </a:t>
                </a:r>
                <a:r>
                  <a:rPr lang="fr-FR" b="1" dirty="0"/>
                  <a:t>au plus un non-terminal</a:t>
                </a:r>
                <a:r>
                  <a:rPr lang="fr-FR" dirty="0"/>
                  <a:t> à droite, et il est placé toujours du même côté (droite ou gauche).</a:t>
                </a:r>
              </a:p>
              <a:p>
                <a:br>
                  <a:rPr lang="fr-FR" dirty="0"/>
                </a:br>
                <a:endParaRPr lang="fr-FR" dirty="0"/>
              </a:p>
              <a:p>
                <a:r>
                  <a:rPr lang="fr-FR" b="1" dirty="0"/>
                  <a:t>🔎 Pourquoi “régulière” ?</a:t>
                </a:r>
              </a:p>
              <a:p>
                <a:r>
                  <a:rPr lang="fr-FR" dirty="0"/>
                  <a:t>Parce qu’elle génère les </a:t>
                </a:r>
                <a:r>
                  <a:rPr lang="fr-FR" b="1" dirty="0"/>
                  <a:t>langages réguliers</a:t>
                </a:r>
                <a:r>
                  <a:rPr lang="fr-FR" dirty="0"/>
                  <a:t>,</a:t>
                </a:r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Une </a:t>
                </a:r>
                <a:r>
                  <a:rPr lang="fr-FR" b="1" dirty="0"/>
                  <a:t>grammaire de type 3</a:t>
                </a:r>
                <a:r>
                  <a:rPr lang="fr-FR" dirty="0"/>
                  <a:t> a des règles très simples :</a:t>
                </a:r>
              </a:p>
              <a:p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𝐴→𝑎𝐵 </a:t>
                </a:r>
                <a:r>
                  <a:rPr lang="fr-F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"ou</a:t>
                </a:r>
                <a:r>
                  <a:rPr lang="fr-F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𝐴→𝑎</a:t>
                </a:r>
                <a:endParaRPr lang="fr-FR" b="0" dirty="0"/>
              </a:p>
              <a:p>
                <a:r>
                  <a:rPr lang="fr-FR" b="1" dirty="0"/>
                  <a:t>A, B</a:t>
                </a:r>
                <a:r>
                  <a:rPr lang="fr-FR" dirty="0"/>
                  <a:t> : non-terminaux</a:t>
                </a:r>
              </a:p>
              <a:p>
                <a:r>
                  <a:rPr lang="fr-FR" b="1" dirty="0"/>
                  <a:t>a</a:t>
                </a:r>
                <a:r>
                  <a:rPr lang="fr-FR" dirty="0"/>
                  <a:t> : terminal</a:t>
                </a:r>
              </a:p>
              <a:p>
                <a:r>
                  <a:rPr lang="fr-FR" dirty="0"/>
                  <a:t>👉 Il y a </a:t>
                </a:r>
                <a:r>
                  <a:rPr lang="fr-FR" b="1" dirty="0"/>
                  <a:t>au plus un non-terminal</a:t>
                </a:r>
                <a:r>
                  <a:rPr lang="fr-FR" dirty="0"/>
                  <a:t> à droite, et il est placé toujours du même côté (droite ou gauche).</a:t>
                </a:r>
              </a:p>
              <a:p>
                <a:br>
                  <a:rPr lang="fr-FR" dirty="0"/>
                </a:br>
                <a:endParaRPr lang="fr-FR" dirty="0"/>
              </a:p>
              <a:p>
                <a:r>
                  <a:rPr lang="fr-FR" b="1" dirty="0"/>
                  <a:t>🔎 Pourquoi “régulière” ?</a:t>
                </a:r>
              </a:p>
              <a:p>
                <a:r>
                  <a:rPr lang="fr-FR" dirty="0"/>
                  <a:t>Parce qu’elle génère les </a:t>
                </a:r>
                <a:r>
                  <a:rPr lang="fr-FR" b="1" dirty="0"/>
                  <a:t>langages réguliers</a:t>
                </a:r>
                <a:r>
                  <a:rPr lang="fr-FR" dirty="0"/>
                  <a:t>,</a:t>
                </a:r>
              </a:p>
              <a:p>
                <a:endParaRPr lang="fr-FR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5A542-02FF-4CB3-9E3D-CEF03D098CC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065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60A80-2FBF-08C9-522F-0E6547301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772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0B9B75-3E68-0037-9C42-D36845EEC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909"/>
            </a:lvl1pPr>
            <a:lvl2pPr marL="363636" indent="0" algn="ctr">
              <a:buNone/>
              <a:defRPr sz="1591"/>
            </a:lvl2pPr>
            <a:lvl3pPr marL="727272" indent="0" algn="ctr">
              <a:buNone/>
              <a:defRPr sz="1432"/>
            </a:lvl3pPr>
            <a:lvl4pPr marL="1090908" indent="0" algn="ctr">
              <a:buNone/>
              <a:defRPr sz="1272"/>
            </a:lvl4pPr>
            <a:lvl5pPr marL="1454543" indent="0" algn="ctr">
              <a:buNone/>
              <a:defRPr sz="1272"/>
            </a:lvl5pPr>
            <a:lvl6pPr marL="1818180" indent="0" algn="ctr">
              <a:buNone/>
              <a:defRPr sz="1272"/>
            </a:lvl6pPr>
            <a:lvl7pPr marL="2181816" indent="0" algn="ctr">
              <a:buNone/>
              <a:defRPr sz="1272"/>
            </a:lvl7pPr>
            <a:lvl8pPr marL="2545452" indent="0" algn="ctr">
              <a:buNone/>
              <a:defRPr sz="1272"/>
            </a:lvl8pPr>
            <a:lvl9pPr marL="2909088" indent="0" algn="ctr">
              <a:buNone/>
              <a:defRPr sz="1272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855ECB-77DE-2F3F-FB8F-FDA5C957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04E845-4982-6CE4-9CAE-B889EF57B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599D3F-CD31-BC77-BF4D-9E0D944D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69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93CCF-A28E-CFF7-FDBF-7C2BD3CA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675192-6AA8-AED0-D576-300DFBA68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3EE124-0BE6-0E41-4B2B-FA5544D0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645470-53CB-FF25-3A9D-BF0D5093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2A4FFC-61FA-AE20-C569-21E18EB3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69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22230F-FA5A-A690-4570-88DBE28C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1" cy="2852737"/>
          </a:xfrm>
        </p:spPr>
        <p:txBody>
          <a:bodyPr anchor="b"/>
          <a:lstStyle>
            <a:lvl1pPr>
              <a:defRPr sz="4772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867B73-6496-B94A-C4F0-A3C1B27A3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1" cy="1500187"/>
          </a:xfrm>
        </p:spPr>
        <p:txBody>
          <a:bodyPr/>
          <a:lstStyle>
            <a:lvl1pPr marL="0" indent="0">
              <a:buNone/>
              <a:defRPr sz="1909">
                <a:solidFill>
                  <a:schemeClr val="tx1">
                    <a:tint val="75000"/>
                  </a:schemeClr>
                </a:solidFill>
              </a:defRPr>
            </a:lvl1pPr>
            <a:lvl2pPr marL="363636" indent="0">
              <a:buNone/>
              <a:defRPr sz="1591">
                <a:solidFill>
                  <a:schemeClr val="tx1">
                    <a:tint val="75000"/>
                  </a:schemeClr>
                </a:solidFill>
              </a:defRPr>
            </a:lvl2pPr>
            <a:lvl3pPr marL="727272" indent="0">
              <a:buNone/>
              <a:defRPr sz="1432">
                <a:solidFill>
                  <a:schemeClr val="tx1">
                    <a:tint val="75000"/>
                  </a:schemeClr>
                </a:solidFill>
              </a:defRPr>
            </a:lvl3pPr>
            <a:lvl4pPr marL="1090908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4pPr>
            <a:lvl5pPr marL="1454543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5pPr>
            <a:lvl6pPr marL="1818180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6pPr>
            <a:lvl7pPr marL="2181816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7pPr>
            <a:lvl8pPr marL="2545452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8pPr>
            <a:lvl9pPr marL="2909088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AEB2B-AC0A-7A26-A2F5-875A8511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9237A3-3214-6281-BF19-E0E0BCFB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5CD6B7-7C9D-886C-22DB-2870379B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975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49A62-D5B6-C0A8-DE76-8585D777F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F747F2-FFF1-2D8A-9740-322EF534F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852F15-FFE3-3254-0402-2F4BD1B2F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883B19-3171-5217-5099-B2318BC8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CCD718-7A63-AFF8-22A8-AF82AD86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BF49EB-1AD4-85E8-2B4B-038A80DB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05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EF881-0C8B-67ED-70EF-96BD8DD9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1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D7AB92-2858-4833-8FFD-D7B5DD28D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909" b="1"/>
            </a:lvl1pPr>
            <a:lvl2pPr marL="363636" indent="0">
              <a:buNone/>
              <a:defRPr sz="1591" b="1"/>
            </a:lvl2pPr>
            <a:lvl3pPr marL="727272" indent="0">
              <a:buNone/>
              <a:defRPr sz="1432" b="1"/>
            </a:lvl3pPr>
            <a:lvl4pPr marL="1090908" indent="0">
              <a:buNone/>
              <a:defRPr sz="1272" b="1"/>
            </a:lvl4pPr>
            <a:lvl5pPr marL="1454543" indent="0">
              <a:buNone/>
              <a:defRPr sz="1272" b="1"/>
            </a:lvl5pPr>
            <a:lvl6pPr marL="1818180" indent="0">
              <a:buNone/>
              <a:defRPr sz="1272" b="1"/>
            </a:lvl6pPr>
            <a:lvl7pPr marL="2181816" indent="0">
              <a:buNone/>
              <a:defRPr sz="1272" b="1"/>
            </a:lvl7pPr>
            <a:lvl8pPr marL="2545452" indent="0">
              <a:buNone/>
              <a:defRPr sz="1272" b="1"/>
            </a:lvl8pPr>
            <a:lvl9pPr marL="2909088" indent="0">
              <a:buNone/>
              <a:defRPr sz="127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89F270-1606-AB7A-B849-E8D4FFA02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644AC6-9431-6C42-A2FA-07A49056B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909" b="1"/>
            </a:lvl1pPr>
            <a:lvl2pPr marL="363636" indent="0">
              <a:buNone/>
              <a:defRPr sz="1591" b="1"/>
            </a:lvl2pPr>
            <a:lvl3pPr marL="727272" indent="0">
              <a:buNone/>
              <a:defRPr sz="1432" b="1"/>
            </a:lvl3pPr>
            <a:lvl4pPr marL="1090908" indent="0">
              <a:buNone/>
              <a:defRPr sz="1272" b="1"/>
            </a:lvl4pPr>
            <a:lvl5pPr marL="1454543" indent="0">
              <a:buNone/>
              <a:defRPr sz="1272" b="1"/>
            </a:lvl5pPr>
            <a:lvl6pPr marL="1818180" indent="0">
              <a:buNone/>
              <a:defRPr sz="1272" b="1"/>
            </a:lvl6pPr>
            <a:lvl7pPr marL="2181816" indent="0">
              <a:buNone/>
              <a:defRPr sz="1272" b="1"/>
            </a:lvl7pPr>
            <a:lvl8pPr marL="2545452" indent="0">
              <a:buNone/>
              <a:defRPr sz="1272" b="1"/>
            </a:lvl8pPr>
            <a:lvl9pPr marL="2909088" indent="0">
              <a:buNone/>
              <a:defRPr sz="127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78CBE3-3BB8-39AF-AC69-7C0B51B9B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03452A-D244-DFF3-FE31-81817CEF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6B7FA5D-CB40-41FA-C391-9E77D1DD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90C990-52F2-7FFE-3B77-FAEF1CC4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56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B0F3E-ED66-1522-29D9-F1BE7851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E49DCF-BB61-0002-67A9-4937AAD2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086C8ED-E4D8-F488-39D8-3497AA14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0C0D12-A6EA-8133-79ED-777DD15F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0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B86BB9-0D5A-DE66-04D3-F8ADB889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4833E9-FE73-A387-3F13-57E34653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030C9-620A-BD87-7005-58A37682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31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CACAC-69A1-A84A-38F7-783187C4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254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ADADED-6CCE-E26A-D790-30E86ACFE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545"/>
            </a:lvl1pPr>
            <a:lvl2pPr>
              <a:defRPr sz="2227"/>
            </a:lvl2pPr>
            <a:lvl3pPr>
              <a:defRPr sz="1909"/>
            </a:lvl3pPr>
            <a:lvl4pPr>
              <a:defRPr sz="1591"/>
            </a:lvl4pPr>
            <a:lvl5pPr>
              <a:defRPr sz="1591"/>
            </a:lvl5pPr>
            <a:lvl6pPr>
              <a:defRPr sz="1591"/>
            </a:lvl6pPr>
            <a:lvl7pPr>
              <a:defRPr sz="1591"/>
            </a:lvl7pPr>
            <a:lvl8pPr>
              <a:defRPr sz="1591"/>
            </a:lvl8pPr>
            <a:lvl9pPr>
              <a:defRPr sz="1591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742258-B926-EB3D-9442-1954A6DEA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272"/>
            </a:lvl1pPr>
            <a:lvl2pPr marL="363636" indent="0">
              <a:buNone/>
              <a:defRPr sz="1114"/>
            </a:lvl2pPr>
            <a:lvl3pPr marL="727272" indent="0">
              <a:buNone/>
              <a:defRPr sz="955"/>
            </a:lvl3pPr>
            <a:lvl4pPr marL="1090908" indent="0">
              <a:buNone/>
              <a:defRPr sz="795"/>
            </a:lvl4pPr>
            <a:lvl5pPr marL="1454543" indent="0">
              <a:buNone/>
              <a:defRPr sz="795"/>
            </a:lvl5pPr>
            <a:lvl6pPr marL="1818180" indent="0">
              <a:buNone/>
              <a:defRPr sz="795"/>
            </a:lvl6pPr>
            <a:lvl7pPr marL="2181816" indent="0">
              <a:buNone/>
              <a:defRPr sz="795"/>
            </a:lvl7pPr>
            <a:lvl8pPr marL="2545452" indent="0">
              <a:buNone/>
              <a:defRPr sz="795"/>
            </a:lvl8pPr>
            <a:lvl9pPr marL="2909088" indent="0">
              <a:buNone/>
              <a:defRPr sz="79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14CD12-53B6-C459-A1FA-ED520B8C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447FF1-CB9B-1D70-CF72-52C42C4C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7345F0-447A-5536-98D3-1402204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88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B7EA1-71FC-86EB-E30A-46A42569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254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206DB32-31DC-9DC9-9280-083046473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545"/>
            </a:lvl1pPr>
            <a:lvl2pPr marL="363636" indent="0">
              <a:buNone/>
              <a:defRPr sz="2227"/>
            </a:lvl2pPr>
            <a:lvl3pPr marL="727272" indent="0">
              <a:buNone/>
              <a:defRPr sz="1909"/>
            </a:lvl3pPr>
            <a:lvl4pPr marL="1090908" indent="0">
              <a:buNone/>
              <a:defRPr sz="1591"/>
            </a:lvl4pPr>
            <a:lvl5pPr marL="1454543" indent="0">
              <a:buNone/>
              <a:defRPr sz="1591"/>
            </a:lvl5pPr>
            <a:lvl6pPr marL="1818180" indent="0">
              <a:buNone/>
              <a:defRPr sz="1591"/>
            </a:lvl6pPr>
            <a:lvl7pPr marL="2181816" indent="0">
              <a:buNone/>
              <a:defRPr sz="1591"/>
            </a:lvl7pPr>
            <a:lvl8pPr marL="2545452" indent="0">
              <a:buNone/>
              <a:defRPr sz="1591"/>
            </a:lvl8pPr>
            <a:lvl9pPr marL="2909088" indent="0">
              <a:buNone/>
              <a:defRPr sz="1591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8B443F-2A3E-BD82-5293-612B17504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272"/>
            </a:lvl1pPr>
            <a:lvl2pPr marL="363636" indent="0">
              <a:buNone/>
              <a:defRPr sz="1114"/>
            </a:lvl2pPr>
            <a:lvl3pPr marL="727272" indent="0">
              <a:buNone/>
              <a:defRPr sz="955"/>
            </a:lvl3pPr>
            <a:lvl4pPr marL="1090908" indent="0">
              <a:buNone/>
              <a:defRPr sz="795"/>
            </a:lvl4pPr>
            <a:lvl5pPr marL="1454543" indent="0">
              <a:buNone/>
              <a:defRPr sz="795"/>
            </a:lvl5pPr>
            <a:lvl6pPr marL="1818180" indent="0">
              <a:buNone/>
              <a:defRPr sz="795"/>
            </a:lvl6pPr>
            <a:lvl7pPr marL="2181816" indent="0">
              <a:buNone/>
              <a:defRPr sz="795"/>
            </a:lvl7pPr>
            <a:lvl8pPr marL="2545452" indent="0">
              <a:buNone/>
              <a:defRPr sz="795"/>
            </a:lvl8pPr>
            <a:lvl9pPr marL="2909088" indent="0">
              <a:buNone/>
              <a:defRPr sz="79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C47335-58D9-0BEB-1E84-ACB28C5E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FEB885-4F64-ECA8-D3F9-31A63E33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0F641B-3D9E-86B4-1801-EF637C60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79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438A4D-1001-2982-5EE9-FB513252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403887-5FC1-5A86-4BA4-1FC75DA1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AA03B7-E6EA-9779-A839-C44D5C28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EAE73D-653A-4C17-8A63-63108BD2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E3792B-89CB-6C9B-2EB3-E3220251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78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199F34-6610-98AE-221D-996C7DD05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0B2B00-55B4-4982-A6CA-A1EE306F0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EFF7BA-E154-4716-7E8C-AAFE76C7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D14B0B-365B-1EB3-C53B-B10FF44E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DB8483-CE25-8DA6-5C3C-DE0EC444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14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BD2026-24EE-9F14-3186-5DD3562A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D700BA-7371-CBF4-2F09-F52D5B688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998AA5-6584-A237-039F-92CF27DE3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50FF8-81C6-4043-A295-C48E422B580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B58BB4-2B1B-60A0-BD8A-5E2F01A33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EE6002-8374-91AC-A11E-2CA546592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9AE9B-FCC3-4C33-98AE-7DDE5B1DB7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93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7272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1818" indent="-181818" algn="l" defTabSz="727272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227" kern="1200">
          <a:solidFill>
            <a:schemeClr val="tx1"/>
          </a:solidFill>
          <a:latin typeface="+mn-lt"/>
          <a:ea typeface="+mn-ea"/>
          <a:cs typeface="+mn-cs"/>
        </a:defRPr>
      </a:lvl1pPr>
      <a:lvl2pPr marL="545454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909" kern="1200">
          <a:solidFill>
            <a:schemeClr val="tx1"/>
          </a:solidFill>
          <a:latin typeface="+mn-lt"/>
          <a:ea typeface="+mn-ea"/>
          <a:cs typeface="+mn-cs"/>
        </a:defRPr>
      </a:lvl2pPr>
      <a:lvl3pPr marL="909090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591" kern="1200">
          <a:solidFill>
            <a:schemeClr val="tx1"/>
          </a:solidFill>
          <a:latin typeface="+mn-lt"/>
          <a:ea typeface="+mn-ea"/>
          <a:cs typeface="+mn-cs"/>
        </a:defRPr>
      </a:lvl3pPr>
      <a:lvl4pPr marL="1272726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4pPr>
      <a:lvl5pPr marL="1636362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5pPr>
      <a:lvl6pPr marL="1999998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6pPr>
      <a:lvl7pPr marL="2363634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7pPr>
      <a:lvl8pPr marL="2727270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8pPr>
      <a:lvl9pPr marL="3090906" indent="-181818" algn="l" defTabSz="727272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sz="14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1pPr>
      <a:lvl2pPr marL="363636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2pPr>
      <a:lvl3pPr marL="727272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3pPr>
      <a:lvl4pPr marL="1090908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4pPr>
      <a:lvl5pPr marL="1454543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5pPr>
      <a:lvl6pPr marL="1818180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6pPr>
      <a:lvl7pPr marL="2181816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7pPr>
      <a:lvl8pPr marL="2545452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8pPr>
      <a:lvl9pPr marL="2909088" algn="l" defTabSz="727272" rtl="0" eaLnBrk="1" latinLnBrk="0" hangingPunct="1">
        <a:defRPr sz="14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39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2AE0B-F53D-CC31-854C-D1C5BECCC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D7BCADB-0C45-D807-B148-7C2E192004BF}"/>
              </a:ext>
            </a:extLst>
          </p:cNvPr>
          <p:cNvSpPr txBox="1"/>
          <p:nvPr/>
        </p:nvSpPr>
        <p:spPr>
          <a:xfrm>
            <a:off x="1247607" y="4386054"/>
            <a:ext cx="9696786" cy="87575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727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90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Pr. Dr. Imane LASRI</a:t>
            </a:r>
          </a:p>
          <a:p>
            <a:pPr marL="0" marR="0" lvl="0" indent="0" algn="ctr" defTabSz="727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École Nationale Supérieure d'Arts et Métiers (ENSAM) Rabat</a:t>
            </a:r>
          </a:p>
          <a:p>
            <a:pPr marL="0" marR="0" lvl="0" indent="0" algn="ctr" defTabSz="727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Université Mohammed V de Rabat 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C971587-E813-F36F-80FE-034AD6424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486"/>
          <a:stretch>
            <a:fillRect/>
          </a:stretch>
        </p:blipFill>
        <p:spPr>
          <a:xfrm>
            <a:off x="1247607" y="701780"/>
            <a:ext cx="9696786" cy="293451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7CF4A37-BA3A-754F-9C65-AC37D13D04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747" y="701779"/>
            <a:ext cx="1066646" cy="106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8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392A46D-4F8E-35EE-CF5D-6A3A0C2D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7624"/>
            <a:ext cx="12192000" cy="534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5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1F073C2-1B7A-801F-A60F-796A21A14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668"/>
            <a:ext cx="12192000" cy="557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8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AB415CE-2F6A-235E-C739-9A627F4D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1217"/>
            <a:ext cx="12192000" cy="555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0A32332-3633-8098-994B-5C32D7557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289"/>
            <a:ext cx="12192000" cy="530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1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B4A78BB-D1F9-F716-E033-3A0F703B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3316"/>
            <a:ext cx="12192000" cy="557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93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C9BD004-22EB-8E77-40FD-AA5593E12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7126"/>
            <a:ext cx="12192000" cy="528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3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5174E0C-B145-1C4C-42DF-4D0021074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7435"/>
            <a:ext cx="12192000" cy="534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9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22F8544-6717-8737-55F6-7C9588F7E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2627"/>
            <a:ext cx="12192000" cy="537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52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AD37FA9-A409-546E-69BA-CA97A18AC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0311"/>
            <a:ext cx="12192000" cy="537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486CF99-2B96-CCF2-D5F1-81BC1D27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651"/>
            <a:ext cx="12192000" cy="555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7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7FFDC60-327C-AFFF-421E-22C0CCF38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5898"/>
            <a:ext cx="12192000" cy="540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8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76165F9-5F46-30C4-69AC-FDB44BE31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3869"/>
            <a:ext cx="12192000" cy="547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7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49024EF-5210-4738-DE5A-3438FA82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470"/>
            <a:ext cx="12192000" cy="511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2152C4A-4A40-318F-E217-481B5400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375"/>
            <a:ext cx="12192000" cy="601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03360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</TotalTime>
  <Words>363</Words>
  <Application>Microsoft Office PowerPoint</Application>
  <PresentationFormat>Grand écran</PresentationFormat>
  <Paragraphs>36</Paragraphs>
  <Slides>15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5</cp:revision>
  <dcterms:created xsi:type="dcterms:W3CDTF">2026-03-04T10:41:17Z</dcterms:created>
  <dcterms:modified xsi:type="dcterms:W3CDTF">2026-03-05T21:53:51Z</dcterms:modified>
</cp:coreProperties>
</file>